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lus Jakarta Sans"/>
      <p:regular r:id="rId22"/>
      <p:bold r:id="rId23"/>
      <p:italic r:id="rId24"/>
      <p:boldItalic r:id="rId25"/>
    </p:embeddedFont>
    <p:embeddedFont>
      <p:font typeface="Space Grotesk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A64D05-2314-4880-8756-3F920EF00D99}">
  <a:tblStyle styleId="{CAA64D05-2314-4880-8756-3F920EF00D9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usJakartaSans-regular.fntdata"/><Relationship Id="rId21" Type="http://schemas.openxmlformats.org/officeDocument/2006/relationships/slide" Target="slides/slide15.xml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paceGrotesk-regular.fntdata"/><Relationship Id="rId25" Type="http://schemas.openxmlformats.org/officeDocument/2006/relationships/font" Target="fonts/PlusJakartaSans-boldItalic.fntdata"/><Relationship Id="rId27" Type="http://schemas.openxmlformats.org/officeDocument/2006/relationships/font" Target="fonts/SpaceGrotes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4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1.png"/><Relationship Id="rId10" Type="http://schemas.openxmlformats.org/officeDocument/2006/relationships/image" Target="../media/image17.png"/><Relationship Id="rId9" Type="http://schemas.openxmlformats.org/officeDocument/2006/relationships/image" Target="../media/image16.png"/><Relationship Id="rId5" Type="http://schemas.openxmlformats.org/officeDocument/2006/relationships/image" Target="../media/image39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25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50.png"/><Relationship Id="rId5" Type="http://schemas.openxmlformats.org/officeDocument/2006/relationships/image" Target="../media/image18.png"/><Relationship Id="rId6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9.png"/><Relationship Id="rId6" Type="http://schemas.openxmlformats.org/officeDocument/2006/relationships/image" Target="../media/image26.png"/><Relationship Id="rId7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9" Type="http://schemas.openxmlformats.org/officeDocument/2006/relationships/image" Target="../media/image30.png"/><Relationship Id="rId5" Type="http://schemas.openxmlformats.org/officeDocument/2006/relationships/image" Target="../media/image46.png"/><Relationship Id="rId6" Type="http://schemas.openxmlformats.org/officeDocument/2006/relationships/image" Target="../media/image27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28.png"/><Relationship Id="rId8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4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45.png"/><Relationship Id="rId7" Type="http://schemas.openxmlformats.org/officeDocument/2006/relationships/image" Target="../media/image44.png"/><Relationship Id="rId8" Type="http://schemas.openxmlformats.org/officeDocument/2006/relationships/image" Target="../media/image5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43.png"/><Relationship Id="rId9" Type="http://schemas.openxmlformats.org/officeDocument/2006/relationships/image" Target="../media/image54.png"/><Relationship Id="rId5" Type="http://schemas.openxmlformats.org/officeDocument/2006/relationships/image" Target="../media/image52.png"/><Relationship Id="rId6" Type="http://schemas.openxmlformats.org/officeDocument/2006/relationships/image" Target="../media/image57.png"/><Relationship Id="rId7" Type="http://schemas.openxmlformats.org/officeDocument/2006/relationships/image" Target="../media/image49.png"/><Relationship Id="rId8" Type="http://schemas.openxmlformats.org/officeDocument/2006/relationships/image" Target="../media/image5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1587" y="3583632"/>
            <a:ext cx="20288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485775"/>
            <a:ext cx="2857500" cy="192360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885473" y="4164657"/>
            <a:ext cx="8421052" cy="613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Agentic AI &amp; Prompt Engineering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428875" y="4873228"/>
            <a:ext cx="7334250" cy="324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Beginner-to-Intermediate Guide to Steer AI Systems Exceptionally Well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624137"/>
            <a:ext cx="5253037" cy="23525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" y="561975"/>
            <a:ext cx="3762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628650" y="2135981"/>
            <a:ext cx="55156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From "Chatting" to "Acting"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28650" y="2574131"/>
            <a:ext cx="5253037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AI only answers questions when asked. </a:t>
            </a: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AI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refers to systems that can make decisions, use tools, and work independently to reach a goal.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62025" y="3605807"/>
            <a:ext cx="4919662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Autonomous: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Learns to act without constant human help.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62025" y="4038600"/>
            <a:ext cx="4919662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Goal-Oriented: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You give it a target; it figures out the steps.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4751784"/>
            <a:ext cx="4919662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Tool-Using: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 search the web, calculate numbers, or run code.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834187" y="2862262"/>
            <a:ext cx="4715589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 Simple Way to Think About It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48437" y="3252787"/>
            <a:ext cx="477678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Traditional AI (The Assistant):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You ask: "Summarize this PDF." It reads and outputs text.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48437" y="3915667"/>
            <a:ext cx="4776787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Agentic AI (The Project Manager):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You say: "Find bugs in our software, test fixes, and email the team." It coordinates tools and finishes the task on its own.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47762" y="485775"/>
            <a:ext cx="109363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Agentic AI?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362485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40576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477083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8437" y="2890837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561975"/>
            <a:ext cx="3381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628650" y="3109912"/>
            <a:ext cx="31623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06B6D4"/>
                </a:solidFill>
                <a:latin typeface="Space Grotesk"/>
                <a:ea typeface="Space Grotesk"/>
                <a:cs typeface="Space Grotesk"/>
                <a:sym typeface="Space Grotesk"/>
              </a:rPr>
              <a:t>90%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628650" y="4252912"/>
            <a:ext cx="31623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FUTURE ENTERPRISE ADOPTION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171950" y="2416373"/>
            <a:ext cx="77609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Master This Now?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4171950" y="2854523"/>
            <a:ext cx="73914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90% of companies are starting to rely on Agentic AI patterns to automate workflows. Learning how to direct these systems is the ultimate future-proof skill.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05325" y="3605807"/>
            <a:ext cx="7058025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Scale Workloads: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Let AI handle complex multi-step processes.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505325" y="4038600"/>
            <a:ext cx="7058025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Save Hours: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Automate data collection, parsing, and execution.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505325" y="4471392"/>
            <a:ext cx="7058025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Career Growth: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Transition from typing basic chats to architecting automated AI systems.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09662" y="485775"/>
            <a:ext cx="1097637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Benefits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1950" y="362485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1950" y="40576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1950" y="4490442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3107084"/>
            <a:ext cx="3486150" cy="1920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3107084"/>
            <a:ext cx="3486150" cy="1920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77200" y="3107084"/>
            <a:ext cx="3486150" cy="1920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561975"/>
            <a:ext cx="3762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28650" y="2573684"/>
            <a:ext cx="109347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Our learning path is split into three simple, progressive phases: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3878609"/>
            <a:ext cx="316039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Foundations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66775" y="4316759"/>
            <a:ext cx="30099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essentials, core architectures, and standard prompt templates.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591050" y="3878609"/>
            <a:ext cx="316039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Core Frameworks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4591050" y="4316759"/>
            <a:ext cx="30099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Building smart workflows with LangChain, LangGraph, and RAG systems.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315325" y="3878609"/>
            <a:ext cx="316039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Agentic Systems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315325" y="4316759"/>
            <a:ext cx="3009900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Developing multi-agent crews with CrewAI, Autogen, and Cloud deployment.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339283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91050" y="339283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15325" y="339283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147762" y="485775"/>
            <a:ext cx="109363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Course Curriculum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1662" y="2523678"/>
            <a:ext cx="8286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4010739" y="3104703"/>
            <a:ext cx="417052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Introduction to Prompt Engineering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3924300" y="4009578"/>
            <a:ext cx="4343400" cy="3247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Art of Communicating Clearly with LLMs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405062"/>
            <a:ext cx="5253037" cy="2790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8437" y="3033712"/>
            <a:ext cx="4776787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561975"/>
            <a:ext cx="3381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28650" y="2785169"/>
            <a:ext cx="55156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Setting Clear Rules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628650" y="3223319"/>
            <a:ext cx="5253037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Engineering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is simply the practice of designing, refining, and structuring inputs so that Large Language Models (LLMs) provide the exact outputs you need.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28650" y="4254996"/>
            <a:ext cx="5253037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Think of it as giving precise instructions to a highly capable but literal intern. The clearer you are, the better the result.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786562" y="2643187"/>
            <a:ext cx="476559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Basic Formulation Rule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8437" y="2671762"/>
            <a:ext cx="1428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6710362" y="3443287"/>
            <a:ext cx="237782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 perfect prompt contains: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454008" y="3443287"/>
            <a:ext cx="45734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Role: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905279" y="3671887"/>
            <a:ext cx="45734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Task: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899350" y="3900487"/>
            <a:ext cx="731639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Context: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173640" y="4129087"/>
            <a:ext cx="64025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Format: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109662" y="485775"/>
            <a:ext cx="1097637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What is Prompt Engineering?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2304752"/>
            <a:ext cx="5324475" cy="2991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04752"/>
            <a:ext cx="5324475" cy="29912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283892"/>
            <a:ext cx="4848225" cy="1359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3283892"/>
            <a:ext cx="4848225" cy="1774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" y="561975"/>
            <a:ext cx="2619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 txBox="1"/>
          <p:nvPr/>
        </p:nvSpPr>
        <p:spPr>
          <a:xfrm>
            <a:off x="866775" y="2542877"/>
            <a:ext cx="50906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Zero-Shot Prompting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66775" y="2933402"/>
            <a:ext cx="48482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Giving a task with zero examples. Good for simple jobs.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477000" y="2542877"/>
            <a:ext cx="50906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Few-Shot Prompting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477000" y="2933402"/>
            <a:ext cx="48482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Showing 1-3 examples of how you want it done first.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38925" y="3869680"/>
            <a:ext cx="6859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0325844" y="3869680"/>
            <a:ext cx="68594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38925" y="4284017"/>
            <a:ext cx="60022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Neutral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6810523" y="4491186"/>
            <a:ext cx="360104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[Model easily outputs Neutral or Negative]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033462" y="485775"/>
            <a:ext cx="1105638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Zero-Shot vs. Few-Shot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376487"/>
            <a:ext cx="5253037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8437" y="3005137"/>
            <a:ext cx="4776787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561975"/>
            <a:ext cx="3762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628650" y="2785169"/>
            <a:ext cx="55156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Step-by-Step Reasoning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28650" y="3223319"/>
            <a:ext cx="5253037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Forcing the AI to explain its math or logic steps before giving the final answer.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28650" y="3974603"/>
            <a:ext cx="5253037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mimics human behavior: we rarely solve complex logic problems instantly; we work them out on paper first. Showing the AI the reasoning process reduces calculation errors.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548437" y="2614612"/>
            <a:ext cx="501562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 Prompt (With Reasoning Example)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1147762" y="485775"/>
            <a:ext cx="109363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Chain-of-Thought (CoT)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447627"/>
            <a:ext cx="5253037" cy="27055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8437" y="3426767"/>
            <a:ext cx="4776787" cy="1152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561975"/>
            <a:ext cx="3381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 txBox="1"/>
          <p:nvPr/>
        </p:nvSpPr>
        <p:spPr>
          <a:xfrm>
            <a:off x="628650" y="2925216"/>
            <a:ext cx="55156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"Magic Phrase"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28650" y="3363366"/>
            <a:ext cx="5253037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Simply adding a short trigger sentence to trigger reasoning without providing any custom examples.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28650" y="4114651"/>
            <a:ext cx="5253037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By telling the model how to start, it automatically triggers a breakdown of logical steps, yielding much higher accuracy.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548437" y="2685752"/>
            <a:ext cx="501562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to Use It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548437" y="3076277"/>
            <a:ext cx="4776787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Add this exact line at the end of your question: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548437" y="4693592"/>
            <a:ext cx="477678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Helps avoid simple trick-question mistakes.</a:t>
            </a:r>
            <a:endParaRPr/>
          </a:p>
        </p:txBody>
      </p:sp>
      <p:pic>
        <p:nvPicPr>
          <p:cNvPr descr="image.png" id="219" name="Google Shape;21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48437" y="4741217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109662" y="485775"/>
            <a:ext cx="1097637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Zero-Shot CoT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695575"/>
            <a:ext cx="5253037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0337" y="3238500"/>
            <a:ext cx="4852987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337" y="3638550"/>
            <a:ext cx="4852987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10337" y="4038600"/>
            <a:ext cx="4852987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337" y="4438650"/>
            <a:ext cx="4852987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" y="561975"/>
            <a:ext cx="2619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628650" y="2644973"/>
            <a:ext cx="55156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Majority Voting Strategy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28650" y="3083123"/>
            <a:ext cx="5253037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Asking the AI the same logical question multiple times (e.g., 5 times) and picking the answer that appears the most.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28650" y="4114800"/>
            <a:ext cx="5253037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can occasionally make a careless mistake on one path. By exploring different paths, the correct answer usually wins the majority vote.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6510337" y="2895600"/>
            <a:ext cx="50956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Voting Path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033462" y="485775"/>
            <a:ext cx="1105638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Self-Consistency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3679031"/>
            <a:ext cx="3061692" cy="1089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5005" y="3679031"/>
            <a:ext cx="3061692" cy="1089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1360" y="3679031"/>
            <a:ext cx="3061692" cy="10894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561975"/>
            <a:ext cx="3762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28650" y="2832496"/>
            <a:ext cx="109347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Designing a prompt that forces the AI to outline several possible ideas, evaluate each one, reject the bad ones, and build on the best ones.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133" y="3879056"/>
            <a:ext cx="279472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Explore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828675" y="4155281"/>
            <a:ext cx="2661642" cy="413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Generate 3 different solutions to the problem.</a:t>
            </a:r>
            <a:endParaRPr/>
          </a:p>
        </p:txBody>
      </p:sp>
      <p:pic>
        <p:nvPicPr>
          <p:cNvPr descr="image.png" id="249" name="Google Shape;24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94249" y="409039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4698489" y="3879056"/>
            <a:ext cx="279472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Evaluate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4765030" y="4155281"/>
            <a:ext cx="2661642" cy="413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Identify flaws and rate them: [Promising] or [Dead End].</a:t>
            </a:r>
            <a:endParaRPr/>
          </a:p>
        </p:txBody>
      </p:sp>
      <p:pic>
        <p:nvPicPr>
          <p:cNvPr descr="image.png" id="252" name="Google Shape;25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0604" y="4090392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8634844" y="3879056"/>
            <a:ext cx="2794724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6366F1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Backtrack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8701385" y="4155281"/>
            <a:ext cx="2661642" cy="4131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Discard the dead ends and build upon the winner.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1147762" y="485775"/>
            <a:ext cx="109363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of Thoughts (ToT)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528441"/>
            <a:ext cx="5253037" cy="2543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48437" y="3157091"/>
            <a:ext cx="4776787" cy="1677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" y="561975"/>
            <a:ext cx="3000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628650" y="2785020"/>
            <a:ext cx="55156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How Agents Make Decisions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28650" y="3223170"/>
            <a:ext cx="5253037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Prompting an AI to cycle between </a:t>
            </a:r>
            <a:r>
              <a:rPr b="0" i="1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Thinking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(reasoning about what is happening) and </a:t>
            </a:r>
            <a:r>
              <a:rPr b="0" i="1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Acting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(using a tool to gather facts) before answering.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28650" y="4254847"/>
            <a:ext cx="5253037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This is the standard design pattern for building autonomous AI agents today.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548437" y="2766566"/>
            <a:ext cx="501562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ReAct Loop Example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710362" y="3531393"/>
            <a:ext cx="40019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9351317" y="3531393"/>
            <a:ext cx="8002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Thought 1: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8470999" y="3724721"/>
            <a:ext cx="72032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Action 1: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470999" y="3918049"/>
            <a:ext cx="112037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Observation 1: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7430690" y="4111376"/>
            <a:ext cx="800248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Thought 2:</a:t>
            </a:r>
            <a:endParaRPr/>
          </a:p>
        </p:txBody>
      </p:sp>
      <p:sp>
        <p:nvSpPr>
          <p:cNvPr id="273" name="Google Shape;273;p24"/>
          <p:cNvSpPr txBox="1"/>
          <p:nvPr/>
        </p:nvSpPr>
        <p:spPr>
          <a:xfrm>
            <a:off x="6710362" y="4111376"/>
            <a:ext cx="3921472" cy="34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Final Answer: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1071562" y="485775"/>
            <a:ext cx="110163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ReAct Prompting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2393900"/>
            <a:ext cx="5324475" cy="2813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93900"/>
            <a:ext cx="5324475" cy="2813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3609230"/>
            <a:ext cx="4848225" cy="1359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3373040"/>
            <a:ext cx="4848225" cy="13596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" y="561975"/>
            <a:ext cx="3762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866775" y="2632025"/>
            <a:ext cx="50906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Personas (Who to be)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866775" y="3022550"/>
            <a:ext cx="4848225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Assigning a clear background identity to steer the AI's language style.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477000" y="2632025"/>
            <a:ext cx="5090636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Meta-Prompting (Prompt Helper)</a:t>
            </a:r>
            <a:endParaRPr/>
          </a:p>
        </p:txBody>
      </p:sp>
      <p:sp>
        <p:nvSpPr>
          <p:cNvPr id="288" name="Google Shape;288;p25"/>
          <p:cNvSpPr txBox="1"/>
          <p:nvPr/>
        </p:nvSpPr>
        <p:spPr>
          <a:xfrm>
            <a:off x="6477000" y="3022550"/>
            <a:ext cx="4848225" cy="236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Definition:</a:t>
            </a:r>
            <a:r>
              <a:rPr b="0" i="0" lang="en-US" sz="12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Asking the AI to write or optimize a prompt for you.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147762" y="485775"/>
            <a:ext cx="1093636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Personas &amp; Meta-Prompting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0312" y="2776537"/>
            <a:ext cx="5253037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0337" y="3338512"/>
            <a:ext cx="4852987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337" y="4052887"/>
            <a:ext cx="4852987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" y="561975"/>
            <a:ext cx="261937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6"/>
          <p:cNvSpPr txBox="1"/>
          <p:nvPr/>
        </p:nvSpPr>
        <p:spPr>
          <a:xfrm>
            <a:off x="628650" y="2668785"/>
            <a:ext cx="551568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Essential Production Tools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628650" y="3106935"/>
            <a:ext cx="5253037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Structured Outputs: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Forcing the AI to reply using clean JSON, lists, or tables rather than messy paragraphs. Perfect for passing data to databases.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628650" y="4090987"/>
            <a:ext cx="5253037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Chaining: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Breaking a huge task into a sequence of smaller, easier prompts. Output of Step 1 becomes Input of Step 2.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6843712" y="2976562"/>
            <a:ext cx="4745593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Chaining Example Flow</a:t>
            </a:r>
            <a:endParaRPr/>
          </a:p>
        </p:txBody>
      </p:sp>
      <p:pic>
        <p:nvPicPr>
          <p:cNvPr descr="image.png" id="303" name="Google Shape;30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337" y="3005137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 txBox="1"/>
          <p:nvPr/>
        </p:nvSpPr>
        <p:spPr>
          <a:xfrm>
            <a:off x="6615112" y="3443287"/>
            <a:ext cx="6572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1:</a:t>
            </a:r>
            <a:endParaRPr/>
          </a:p>
        </p:txBody>
      </p:sp>
      <p:pic>
        <p:nvPicPr>
          <p:cNvPr descr="image.png" id="305" name="Google Shape;305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84443" y="3833812"/>
            <a:ext cx="1047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6"/>
          <p:cNvSpPr txBox="1"/>
          <p:nvPr/>
        </p:nvSpPr>
        <p:spPr>
          <a:xfrm>
            <a:off x="6615112" y="4157662"/>
            <a:ext cx="6858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F1F5F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Prompt 2:</a:t>
            </a:r>
            <a:endParaRPr/>
          </a:p>
        </p:txBody>
      </p:sp>
      <p:sp>
        <p:nvSpPr>
          <p:cNvPr id="307" name="Google Shape;307;p26"/>
          <p:cNvSpPr txBox="1"/>
          <p:nvPr/>
        </p:nvSpPr>
        <p:spPr>
          <a:xfrm>
            <a:off x="1033462" y="485775"/>
            <a:ext cx="11056381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Structured Outputs &amp; Chaining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3" name="Google Shape;31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" y="561975"/>
            <a:ext cx="223837" cy="304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4" name="Google Shape;314;p27"/>
          <p:cNvGraphicFramePr/>
          <p:nvPr/>
        </p:nvGraphicFramePr>
        <p:xfrm>
          <a:off x="628650" y="23054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{CAA64D05-2314-4880-8756-3F920EF00D99}</a:tableStyleId>
              </a:tblPr>
              <a:tblGrid>
                <a:gridCol w="2286450"/>
                <a:gridCol w="4430625"/>
                <a:gridCol w="4217650"/>
              </a:tblGrid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6B6D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Technique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6B6D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When to Use 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6B6D4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Beginner Cheat Phrase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Zero-Shot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Simple tasks, basic definitions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"Translate this word to Spanish..."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Few-Shot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Specific formatting, styling, 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"Here are 3 examples of what I want..."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Chain-of-Thought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Basic math, logic, complex instructions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"Let's think step by step."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Integrating AI with APIs or web tools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CBD5E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"Write your Thoughts and Action first..."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" name="Google Shape;315;p27"/>
          <p:cNvSpPr txBox="1"/>
          <p:nvPr/>
        </p:nvSpPr>
        <p:spPr>
          <a:xfrm>
            <a:off x="628650" y="5029646"/>
            <a:ext cx="10934700" cy="2656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6B6D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www.agentic-ai-mastery.com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628650" y="2819846"/>
            <a:ext cx="2286446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7"/>
          <p:cNvSpPr/>
          <p:nvPr/>
        </p:nvSpPr>
        <p:spPr>
          <a:xfrm>
            <a:off x="2915096" y="2819846"/>
            <a:ext cx="443061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7345709" y="2819846"/>
            <a:ext cx="421764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7"/>
          <p:cNvSpPr/>
          <p:nvPr/>
        </p:nvSpPr>
        <p:spPr>
          <a:xfrm>
            <a:off x="628650" y="3319908"/>
            <a:ext cx="228644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2915096" y="3319908"/>
            <a:ext cx="443061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7345709" y="3319908"/>
            <a:ext cx="421764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628650" y="3805683"/>
            <a:ext cx="228644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2915096" y="3805683"/>
            <a:ext cx="443061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7345709" y="3805683"/>
            <a:ext cx="421764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628650" y="4291458"/>
            <a:ext cx="228644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2915096" y="4291458"/>
            <a:ext cx="443061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7345709" y="4291458"/>
            <a:ext cx="421764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628650" y="4777233"/>
            <a:ext cx="228644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2915096" y="4777233"/>
            <a:ext cx="443061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7345709" y="4777233"/>
            <a:ext cx="421764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 txBox="1"/>
          <p:nvPr/>
        </p:nvSpPr>
        <p:spPr>
          <a:xfrm>
            <a:off x="995362" y="485775"/>
            <a:ext cx="1109638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Master Cheat Sheet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